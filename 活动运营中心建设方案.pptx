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00A8E8">
              <a:alpha val="20000"/>
            </a:srgbClr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活动运营中心建设方案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A8E8"/>
                </a:solidFill>
              </a:rPr>
              <a:t>支撑公共数据授权运营推广与培训活动开展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2743200" cy="36576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3291840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1C7293">
              <a:alpha val="40000"/>
            </a:srgbClr>
          </a:solidFill>
          <a:ln w="6350">
            <a:solidFill>
              <a:srgbClr val="00A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2918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活动运营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3291840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1C7293">
              <a:alpha val="40000"/>
            </a:srgbClr>
          </a:solidFill>
          <a:ln w="6350">
            <a:solidFill>
              <a:srgbClr val="00A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32918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培训推广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0" y="3291840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1C7293">
              <a:alpha val="40000"/>
            </a:srgbClr>
          </a:solidFill>
          <a:ln w="6350">
            <a:solidFill>
              <a:srgbClr val="00A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32918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门户活动专区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3291840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1C7293">
              <a:alpha val="40000"/>
            </a:srgbClr>
          </a:solidFill>
          <a:ln w="6350">
            <a:solidFill>
              <a:srgbClr val="00A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32918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签到统计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2976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汇报部门：公共数据授权运营项目组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汇报人：XXX    日期：2026年6月</a:t>
            </a:r>
            <a:endParaRPr lang="en-US" sz="12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3474720"/>
            <a:ext cx="640080" cy="640080"/>
          </a:xfrm>
          <a:prstGeom prst="rect">
            <a:avLst/>
          </a:prstGeom>
        </p:spPr>
      </p:pic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3474720"/>
            <a:ext cx="640080" cy="640080"/>
          </a:xfrm>
          <a:prstGeom prst="rect">
            <a:avLst/>
          </a:prstGeom>
        </p:spPr>
      </p:pic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416052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 / 12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5029200"/>
            <a:ext cx="91440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一、项目背景与建设目标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40233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868680"/>
            <a:ext cx="402336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88696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建设背景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325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为推动</a:t>
            </a:r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 公共数据授权运营体系推广落地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6276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持续开展：培训活动、政策宣讲、行业交流、技术沙龙、企业对接会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93852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当前活动组织缺少统一运营与管理能力，存在：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240280"/>
            <a:ext cx="109728" cy="109728"/>
          </a:xfrm>
          <a:prstGeom prst="oval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21284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活动发布分散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011680" y="2240280"/>
            <a:ext cx="109728" cy="109728"/>
          </a:xfrm>
          <a:prstGeom prst="oval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67128" y="221284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报名审核效率低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37560" y="2240280"/>
            <a:ext cx="109728" cy="109728"/>
          </a:xfrm>
          <a:prstGeom prst="oval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93008" y="221284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签到统计困难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" y="2606040"/>
            <a:ext cx="109728" cy="109728"/>
          </a:xfrm>
          <a:prstGeom prst="oval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257860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推广运营能力不足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011680" y="2606040"/>
            <a:ext cx="109728" cy="109728"/>
          </a:xfrm>
          <a:prstGeom prst="oval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67128" y="257860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用户参与路径不完整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868680"/>
            <a:ext cx="40233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868680"/>
            <a:ext cx="4023360" cy="34747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88696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建设目标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00600" y="13258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实现活动全生命周期运营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00600" y="1664208"/>
            <a:ext cx="530352" cy="292608"/>
          </a:xfrm>
          <a:prstGeom prst="roundRect">
            <a:avLst>
              <a:gd name="adj" fmla="val 15625"/>
            </a:avLst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1664208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活动创建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330952" y="1664208"/>
            <a:ext cx="73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→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349240" y="1664208"/>
            <a:ext cx="530352" cy="292608"/>
          </a:xfrm>
          <a:prstGeom prst="roundRect">
            <a:avLst>
              <a:gd name="adj" fmla="val 15625"/>
            </a:avLst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49240" y="1664208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审核发布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879592" y="1664208"/>
            <a:ext cx="73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→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897880" y="1664208"/>
            <a:ext cx="530352" cy="292608"/>
          </a:xfrm>
          <a:prstGeom prst="roundRect">
            <a:avLst>
              <a:gd name="adj" fmla="val 15625"/>
            </a:avLst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664208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门户展示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428232" y="1664208"/>
            <a:ext cx="73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→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446520" y="1664208"/>
            <a:ext cx="530352" cy="292608"/>
          </a:xfrm>
          <a:prstGeom prst="roundRect">
            <a:avLst>
              <a:gd name="adj" fmla="val 15625"/>
            </a:avLst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46520" y="1664208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用户报名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976872" y="1664208"/>
            <a:ext cx="73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→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995160" y="1664208"/>
            <a:ext cx="530352" cy="292608"/>
          </a:xfrm>
          <a:prstGeom prst="roundRect">
            <a:avLst>
              <a:gd name="adj" fmla="val 15625"/>
            </a:avLst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95160" y="1664208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签到核验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525512" y="1664208"/>
            <a:ext cx="73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→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543800" y="1664208"/>
            <a:ext cx="530352" cy="292608"/>
          </a:xfrm>
          <a:prstGeom prst="roundRect">
            <a:avLst>
              <a:gd name="adj" fmla="val 15625"/>
            </a:avLst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43800" y="1664208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数据统计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074152" y="1664208"/>
            <a:ext cx="73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→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8092440" y="1664208"/>
            <a:ext cx="530352" cy="292608"/>
          </a:xfrm>
          <a:prstGeom prst="roundRect">
            <a:avLst>
              <a:gd name="adj" fmla="val 15625"/>
            </a:avLst>
          </a:prstGeom>
          <a:solidFill>
            <a:srgbClr val="00A8E8"/>
          </a:solidFill>
          <a:ln w="6350">
            <a:solidFill>
              <a:srgbClr val="00A8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92440" y="1664208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精彩回顾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800600" y="20574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E8"/>
                </a:solidFill>
              </a:rPr>
              <a:t>形成完整活动闭环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57200" y="3291840"/>
            <a:ext cx="82296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57200" y="3291840"/>
            <a:ext cx="73152" cy="155448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5800" y="3383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核心目标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85800" y="3749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E8"/>
                </a:solidFill>
              </a:rPr>
              <a:t>统一运营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85800" y="4023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活动统一管理、集中运营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194560" y="3749040"/>
            <a:ext cx="18288" cy="5486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313432" y="3749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E8"/>
                </a:solidFill>
              </a:rPr>
              <a:t>统一发布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2313432" y="4023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多渠道同步展示发布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822192" y="3749040"/>
            <a:ext cx="18288" cy="5486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941064" y="3749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E8"/>
                </a:solidFill>
              </a:rPr>
              <a:t>统一报名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3941064" y="4023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在线报名、自动审核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449824" y="3749040"/>
            <a:ext cx="18288" cy="5486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568696" y="3749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E8"/>
                </a:solidFill>
              </a:rPr>
              <a:t>统一签到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5568696" y="4023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扫码/H5多种签到方式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077456" y="3749040"/>
            <a:ext cx="18288" cy="5486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196328" y="3749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E8"/>
                </a:solidFill>
              </a:rPr>
              <a:t>统一统计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7196328" y="4023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数据驱动运营决策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 / 12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5029200"/>
            <a:ext cx="91440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二、建设定位与总体思路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活动运营中心 = 公共数据授权运营推广支撑平台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不单独建设门户，采用 </a:t>
            </a:r>
            <a:pPr algn="ctr" indent="0" marL="0">
              <a:buNone/>
            </a:pPr>
            <a:r>
              <a:rPr lang="en-US" sz="1300" b="1" dirty="0">
                <a:solidFill>
                  <a:srgbClr val="00A8E8"/>
                </a:solidFill>
              </a:rPr>
              <a:t>"运营中心 + 门户活动专区"</a:t>
            </a:r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模式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0" y="2286000"/>
            <a:ext cx="2194560" cy="50292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2286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整体架构示意图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0" y="2926080"/>
            <a:ext cx="365760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29260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运营侧（后台）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29260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活动审核发布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34840" y="329184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A8E8"/>
                </a:solidFill>
              </a:rPr>
              <a:t>↓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0" y="3429000"/>
            <a:ext cx="365760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34640" y="34290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门户活动专区（前台）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34290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用户浏览报名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34840" y="37947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A8E8"/>
                </a:solidFill>
              </a:rPr>
              <a:t>↓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0" y="3931920"/>
            <a:ext cx="365760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34640" y="39319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用户报名/签到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39319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参与活动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434840" y="429768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A8E8"/>
                </a:solidFill>
              </a:rPr>
              <a:t>↓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0" y="4434840"/>
            <a:ext cx="365760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34640" y="44348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统计分析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4434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数据驱动运营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2286000"/>
            <a:ext cx="21031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2286000"/>
            <a:ext cx="210312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230428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运营侧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" y="274320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活动管理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审核发布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报名审核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活动统计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83680" y="2286000"/>
            <a:ext cx="21031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83680" y="2286000"/>
            <a:ext cx="210312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20840" y="230428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用户侧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720840" y="274320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活动浏览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活动报名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扫码签到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精彩回顾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286000" y="4663440"/>
            <a:ext cx="4572000" cy="320040"/>
          </a:xfrm>
          <a:prstGeom prst="rect">
            <a:avLst/>
          </a:prstGeom>
          <a:solidFill>
            <a:srgbClr val="00A8E8">
              <a:alpha val="85000"/>
            </a:srgbClr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0" y="4663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E8"/>
                </a:solidFill>
              </a:rPr>
              <a:t>后台负责运营，门户负责展示，用户负责参与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 / 12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5029200"/>
            <a:ext cx="91440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三、运营侧与用户侧业务模式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9776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397764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6984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运营侧（后台）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1645920"/>
            <a:ext cx="1783080" cy="548640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645920"/>
            <a:ext cx="54864" cy="54864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71907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活动创建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19385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活动信息录入与配置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0" y="1645920"/>
            <a:ext cx="1783080" cy="548640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0" y="1645920"/>
            <a:ext cx="54864" cy="54864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97480" y="171907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活动审核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97480" y="19385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内容合规性审核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2304288"/>
            <a:ext cx="1783080" cy="548640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304288"/>
            <a:ext cx="54864" cy="54864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23774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活动发布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259689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推送至门户专区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60320" y="2304288"/>
            <a:ext cx="1783080" cy="548640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0" y="2304288"/>
            <a:ext cx="54864" cy="54864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97480" y="23774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热门活动配置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697480" y="259689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Banner与推荐位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0080" y="2962656"/>
            <a:ext cx="1783080" cy="548640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2962656"/>
            <a:ext cx="54864" cy="54864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30358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报名审核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" y="325526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审核用户报名信息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560320" y="2962656"/>
            <a:ext cx="1783080" cy="548640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60320" y="2962656"/>
            <a:ext cx="54864" cy="54864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97480" y="30358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签到管理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697480" y="325526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现场签到核验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0080" y="3621024"/>
            <a:ext cx="1783080" cy="548640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" y="3621024"/>
            <a:ext cx="54864" cy="54864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369417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活动统计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77240" y="391363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数据统计与分析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560320" y="3621024"/>
            <a:ext cx="1783080" cy="548640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560320" y="3621024"/>
            <a:ext cx="54864" cy="54864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97480" y="369417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精彩回顾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697480" y="391363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活动内容沉淀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09160" y="1051560"/>
            <a:ext cx="39776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09160" y="1051560"/>
            <a:ext cx="397764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106984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用户侧（门户）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4892040" y="1645920"/>
            <a:ext cx="1783080" cy="548640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92040" y="1645920"/>
            <a:ext cx="54864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0" y="171907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活动专区浏览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029200" y="19385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查看热门与推荐活动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812280" y="1645920"/>
            <a:ext cx="1783080" cy="548640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12280" y="1645920"/>
            <a:ext cx="54864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49440" y="171907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活动详情查看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949440" y="19385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了解活动详细信息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892040" y="2304288"/>
            <a:ext cx="1783080" cy="548640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892040" y="2304288"/>
            <a:ext cx="54864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29200" y="23774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活动报名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029200" y="259689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在线提交报名申请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812280" y="2304288"/>
            <a:ext cx="1783080" cy="548640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812280" y="2304288"/>
            <a:ext cx="54864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949440" y="23774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我的活动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949440" y="259689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已报名/待签到/已完成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892040" y="2962656"/>
            <a:ext cx="1783080" cy="548640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892040" y="2962656"/>
            <a:ext cx="54864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029200" y="30358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签到核验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5029200" y="325526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扫码/H5现场签到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812280" y="2962656"/>
            <a:ext cx="1783080" cy="548640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812280" y="2962656"/>
            <a:ext cx="54864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949440" y="30358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培训专区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6949440" y="325526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培训类活动聚合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892040" y="3621024"/>
            <a:ext cx="1783080" cy="548640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892040" y="3621024"/>
            <a:ext cx="54864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029200" y="369417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精彩回顾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5029200" y="391363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往期活动内容浏览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实现运营闭环与用户参与闭环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 / 12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5029200"/>
            <a:ext cx="91440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四、运营侧核心功能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517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265176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234440"/>
            <a:ext cx="457200" cy="457200"/>
          </a:xfrm>
          <a:prstGeom prst="oval">
            <a:avLst/>
          </a:prstGeom>
          <a:solidFill>
            <a:srgbClr val="065A82">
              <a:alpha val="1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1252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活动管理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活动创建、编辑、分类、发布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2240280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065A82">
              <a:alpha val="15000"/>
            </a:srgbClr>
          </a:solidFill>
          <a:ln w="635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24028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5A82"/>
                </a:solidFill>
              </a:rPr>
              <a:t>创建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399032" y="2240280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065A82">
              <a:alpha val="15000"/>
            </a:srgbClr>
          </a:solidFill>
          <a:ln w="635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99032" y="224028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5A82"/>
                </a:solidFill>
              </a:rPr>
              <a:t>编辑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03704" y="2240280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065A82">
              <a:alpha val="15000"/>
            </a:srgbClr>
          </a:solidFill>
          <a:ln w="635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03704" y="224028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5A82"/>
                </a:solidFill>
              </a:rPr>
              <a:t>分类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008376" y="2240280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065A82">
              <a:alpha val="15000"/>
            </a:srgbClr>
          </a:solidFill>
          <a:ln w="635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08376" y="224028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5A82"/>
                </a:solidFill>
              </a:rPr>
              <a:t>发布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91840" y="1051560"/>
            <a:ext cx="26517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91840" y="1051560"/>
            <a:ext cx="265176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29000" y="1234440"/>
            <a:ext cx="457200" cy="457200"/>
          </a:xfrm>
          <a:prstGeom prst="oval">
            <a:avLst/>
          </a:prstGeom>
          <a:solidFill>
            <a:srgbClr val="1C7293">
              <a:alpha val="1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</a:rPr>
              <a:t>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977640" y="1252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报名审核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29000" y="1783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审核用户报名信息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29000" y="2240280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1C7293">
              <a:alpha val="15000"/>
            </a:srgbClr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29000" y="224028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7293"/>
                </a:solidFill>
              </a:rPr>
              <a:t>审核通过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233672" y="2240280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1C7293">
              <a:alpha val="15000"/>
            </a:srgbClr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33672" y="224028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7293"/>
                </a:solidFill>
              </a:rPr>
              <a:t>审核驳回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038344" y="2240280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1C7293">
              <a:alpha val="15000"/>
            </a:srgbClr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38344" y="224028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7293"/>
                </a:solidFill>
              </a:rPr>
              <a:t>批量审核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26480" y="1051560"/>
            <a:ext cx="26517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1051560"/>
            <a:ext cx="265176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63640" y="1234440"/>
            <a:ext cx="457200" cy="457200"/>
          </a:xfrm>
          <a:prstGeom prst="oval">
            <a:avLst/>
          </a:prstGeom>
          <a:solidFill>
            <a:srgbClr val="065A82">
              <a:alpha val="1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636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3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812280" y="1252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热门活动配置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263640" y="1783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首页Banner、热门活动、专区运营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63640" y="2240280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065A82">
              <a:alpha val="15000"/>
            </a:srgbClr>
          </a:solidFill>
          <a:ln w="6350">
            <a:solidFill>
              <a:srgbClr val="065A8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63640" y="224028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5A82"/>
                </a:solidFill>
              </a:rPr>
              <a:t>Banner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068312" y="2240280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065A82">
              <a:alpha val="15000"/>
            </a:srgbClr>
          </a:solidFill>
          <a:ln w="6350">
            <a:solidFill>
              <a:srgbClr val="065A8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68312" y="224028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5A82"/>
                </a:solidFill>
              </a:rPr>
              <a:t>热门推荐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872984" y="2240280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065A82">
              <a:alpha val="15000"/>
            </a:srgbClr>
          </a:solidFill>
          <a:ln w="6350">
            <a:solidFill>
              <a:srgbClr val="065A8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872984" y="224028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5A82"/>
                </a:solidFill>
              </a:rPr>
              <a:t>专区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7200" y="3017520"/>
            <a:ext cx="26517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57200" y="3017520"/>
            <a:ext cx="265176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94360" y="3200400"/>
            <a:ext cx="457200" cy="457200"/>
          </a:xfrm>
          <a:prstGeom prst="oval">
            <a:avLst/>
          </a:prstGeom>
          <a:solidFill>
            <a:srgbClr val="1C7293">
              <a:alpha val="1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436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</a:rPr>
              <a:t>4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1143000" y="32186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活动签到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94360" y="3749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微信扫码签到 / H5签到 / 签到统计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94360" y="4206240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1C7293">
              <a:alpha val="15000"/>
            </a:srgbClr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4360" y="420624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7293"/>
                </a:solidFill>
              </a:rPr>
              <a:t>微信扫码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399032" y="4206240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1C7293">
              <a:alpha val="15000"/>
            </a:srgbClr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399032" y="420624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7293"/>
                </a:solidFill>
              </a:rPr>
              <a:t>H5签到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203704" y="4206240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1C7293">
              <a:alpha val="15000"/>
            </a:srgbClr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203704" y="420624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7293"/>
                </a:solidFill>
              </a:rPr>
              <a:t>实时统计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291840" y="3017520"/>
            <a:ext cx="26517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3291840" y="3017520"/>
            <a:ext cx="265176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429000" y="3200400"/>
            <a:ext cx="457200" cy="457200"/>
          </a:xfrm>
          <a:prstGeom prst="oval">
            <a:avLst/>
          </a:prstGeom>
          <a:solidFill>
            <a:srgbClr val="065A82">
              <a:alpha val="1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42900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5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3977640" y="32186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数据统计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3429000" y="3749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活动参与人数、签到率、活动热度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429000" y="4206240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065A82">
              <a:alpha val="15000"/>
            </a:srgbClr>
          </a:solidFill>
          <a:ln w="6350">
            <a:solidFill>
              <a:srgbClr val="065A8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429000" y="420624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5A82"/>
                </a:solidFill>
              </a:rPr>
              <a:t>参与人数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233672" y="4206240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065A82">
              <a:alpha val="15000"/>
            </a:srgbClr>
          </a:solidFill>
          <a:ln w="6350">
            <a:solidFill>
              <a:srgbClr val="065A8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233672" y="420624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5A82"/>
                </a:solidFill>
              </a:rPr>
              <a:t>签到率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038344" y="4206240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065A82">
              <a:alpha val="15000"/>
            </a:srgbClr>
          </a:solidFill>
          <a:ln w="6350">
            <a:solidFill>
              <a:srgbClr val="065A8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038344" y="420624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5A82"/>
                </a:solidFill>
              </a:rPr>
              <a:t>热度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6 / 12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5029200"/>
            <a:ext cx="91440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五、用户侧活动专区能力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517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73152" cy="1783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🔥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43000" y="1280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今日热门活动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活动推荐与热门活动展示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051560"/>
            <a:ext cx="26517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051560"/>
            <a:ext cx="73152" cy="1783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977640" y="1280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全部活动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1828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按分类、状态、时间筛选活动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051560"/>
            <a:ext cx="26517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051560"/>
            <a:ext cx="73152" cy="1783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🎓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812280" y="1280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培训专区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9360" y="1828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培训类活动自动聚合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26517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017520"/>
            <a:ext cx="73152" cy="1783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143000" y="3246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我的活动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3794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已报名 / 待签到 / 已签到 / 活动记录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91840" y="3017520"/>
            <a:ext cx="26517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91840" y="3017520"/>
            <a:ext cx="73152" cy="1783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📖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3977640" y="3246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活动详情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474720" y="3794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查看活动信息并完成报名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26480" y="3017520"/>
            <a:ext cx="26517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3017520"/>
            <a:ext cx="73152" cy="1783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812280" y="3246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H5扫码签到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309360" y="3794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现场扫码快速签到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7 / 12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5029200"/>
            <a:ext cx="91440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六、用户参与路径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4028" y="1463040"/>
            <a:ext cx="8686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4028" y="153619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门户活动专区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4028" y="178308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浏览活动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92708" y="1600200"/>
            <a:ext cx="109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A8E8"/>
                </a:solidFill>
              </a:rPr>
              <a:t>→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202436" y="1463040"/>
            <a:ext cx="8686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202436" y="153619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查看活动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02436" y="178308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了解详情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071116" y="1600200"/>
            <a:ext cx="109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A8E8"/>
                </a:solidFill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180844" y="1463040"/>
            <a:ext cx="868680" cy="594360"/>
          </a:xfrm>
          <a:prstGeom prst="rect">
            <a:avLst/>
          </a:prstGeom>
          <a:solidFill>
            <a:srgbClr val="00A8E8"/>
          </a:solidFill>
          <a:ln w="6350">
            <a:solidFill>
              <a:srgbClr val="00A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180844" y="153619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立即报名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80844" y="178308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提交申请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049524" y="1600200"/>
            <a:ext cx="109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A8E8"/>
                </a:solidFill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159252" y="1463040"/>
            <a:ext cx="8686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159252" y="153619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运营审核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159252" y="178308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等待确认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027932" y="1600200"/>
            <a:ext cx="109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A8E8"/>
                </a:solidFill>
              </a:rPr>
              <a:t>→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37660" y="1463040"/>
            <a:ext cx="8686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137660" y="153619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审核通过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37660" y="178308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获得参与资格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006340" y="1600200"/>
            <a:ext cx="109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A8E8"/>
                </a:solidFill>
              </a:rPr>
              <a:t>→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116068" y="1463040"/>
            <a:ext cx="8686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116068" y="153619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活动开始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16068" y="178308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现场参与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984748" y="1600200"/>
            <a:ext cx="109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A8E8"/>
                </a:solidFill>
              </a:rPr>
              <a:t>→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094476" y="1463040"/>
            <a:ext cx="868680" cy="594360"/>
          </a:xfrm>
          <a:prstGeom prst="rect">
            <a:avLst/>
          </a:prstGeom>
          <a:solidFill>
            <a:srgbClr val="00A8E8"/>
          </a:solidFill>
          <a:ln w="6350">
            <a:solidFill>
              <a:srgbClr val="00A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094476" y="153619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扫码签到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094476" y="178308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核验身份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963156" y="1600200"/>
            <a:ext cx="109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A8E8"/>
                </a:solidFill>
              </a:rPr>
              <a:t>→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072884" y="1463040"/>
            <a:ext cx="8686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072884" y="153619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完成参与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072884" y="178308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活动结束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941564" y="1600200"/>
            <a:ext cx="109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A8E8"/>
                </a:solidFill>
              </a:rPr>
              <a:t>→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051292" y="1463040"/>
            <a:ext cx="868680" cy="594360"/>
          </a:xfrm>
          <a:prstGeom prst="rect">
            <a:avLst/>
          </a:prstGeom>
          <a:solidFill>
            <a:srgbClr val="00A8E8"/>
          </a:solidFill>
          <a:ln w="6350">
            <a:solidFill>
              <a:srgbClr val="00A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051292" y="153619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精彩回顾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051292" y="178308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内容沉淀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828800" y="2240280"/>
            <a:ext cx="54864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965960" y="23042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关键节点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965960" y="2578608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65960" y="25786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报名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3703320" y="2578608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703320" y="25786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签到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5440680" y="2578608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40680" y="25786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回顾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57200" y="3246120"/>
            <a:ext cx="8229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57200" y="3246120"/>
            <a:ext cx="73152" cy="169164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580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用户参与路径说明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85800" y="3703320"/>
            <a:ext cx="228600" cy="228600"/>
          </a:xfrm>
          <a:prstGeom prst="rect">
            <a:avLst/>
          </a:prstGeom>
          <a:solidFill>
            <a:srgbClr val="00A8E8"/>
          </a:solidFill>
          <a:ln>
            <a:solidFill>
              <a:srgbClr val="00A8E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960120" y="3703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用户从门户活动专区入口进入浏览活动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337560" y="3703320"/>
            <a:ext cx="228600" cy="228600"/>
          </a:xfrm>
          <a:prstGeom prst="rect">
            <a:avLst/>
          </a:prstGeom>
          <a:solidFill>
            <a:srgbClr val="00A8E8"/>
          </a:solidFill>
          <a:ln>
            <a:solidFill>
              <a:srgbClr val="00A8E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611880" y="3703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选择感兴趣的活动查看详情并提交报名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989320" y="3703320"/>
            <a:ext cx="228600" cy="228600"/>
          </a:xfrm>
          <a:prstGeom prst="rect">
            <a:avLst/>
          </a:prstGeom>
          <a:solidFill>
            <a:srgbClr val="00A8E8"/>
          </a:solidFill>
          <a:ln>
            <a:solidFill>
              <a:srgbClr val="00A8E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263640" y="3703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运营方审核通过后用户获得参与资格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85800" y="4206240"/>
            <a:ext cx="228600" cy="228600"/>
          </a:xfrm>
          <a:prstGeom prst="rect">
            <a:avLst/>
          </a:prstGeom>
          <a:solidFill>
            <a:srgbClr val="00A8E8"/>
          </a:solidFill>
          <a:ln>
            <a:solidFill>
              <a:srgbClr val="00A8E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960120" y="4206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活动当天通过微信扫码或H5页面完成签到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3337560" y="4206240"/>
            <a:ext cx="228600" cy="228600"/>
          </a:xfrm>
          <a:prstGeom prst="rect">
            <a:avLst/>
          </a:prstGeom>
          <a:solidFill>
            <a:srgbClr val="00A8E8"/>
          </a:solidFill>
          <a:ln>
            <a:solidFill>
              <a:srgbClr val="00A8E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3611880" y="4206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活动结束后可查看精彩回顾内容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8 / 12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5029200"/>
            <a:ext cx="91440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七、运营侧管理路径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840480" cy="594360"/>
          </a:xfrm>
          <a:prstGeom prst="rect">
            <a:avLst/>
          </a:prstGeom>
          <a:solidFill>
            <a:srgbClr val="065A82"/>
          </a:solidFill>
          <a:ln w="635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143000"/>
            <a:ext cx="411480" cy="411480"/>
          </a:xfrm>
          <a:prstGeom prst="oval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11430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创建活动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13716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录入活动基础信息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377440" y="164592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8E8"/>
                </a:solidFill>
              </a:rPr>
              <a:t>↓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05156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81728" y="1143000"/>
            <a:ext cx="411480" cy="411480"/>
          </a:xfrm>
          <a:prstGeom prst="oval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81728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66360" y="11430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配置活动内容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66360" y="13716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设置时间地点规则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1810512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6928" y="1901952"/>
            <a:ext cx="411480" cy="411480"/>
          </a:xfrm>
          <a:prstGeom prst="oval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1901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19019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提交审核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1560" y="21305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发起审核流程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377440" y="240487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8E8"/>
                </a:solidFill>
              </a:rPr>
              <a:t>↓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0" y="1810512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81728" y="1901952"/>
            <a:ext cx="411480" cy="411480"/>
          </a:xfrm>
          <a:prstGeom prst="oval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1728" y="1901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66360" y="19019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审核发布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66360" y="21305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合规性审核通过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2569464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66928" y="2660904"/>
            <a:ext cx="411480" cy="411480"/>
          </a:xfrm>
          <a:prstGeom prst="oval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26609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51560" y="266090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门户展示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51560" y="288950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活动上线展示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377440" y="316382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8E8"/>
                </a:solidFill>
              </a:rPr>
              <a:t>↓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0" y="2569464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81728" y="2660904"/>
            <a:ext cx="411480" cy="411480"/>
          </a:xfrm>
          <a:prstGeom prst="oval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81728" y="26609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6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166360" y="266090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用户报名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66360" y="288950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用户在线报名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3328416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66928" y="3419856"/>
            <a:ext cx="411480" cy="411480"/>
          </a:xfrm>
          <a:prstGeom prst="oval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6928" y="34198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7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051560" y="34198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报名审核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051560" y="36484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审核用户资质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377440" y="392277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8E8"/>
                </a:solidFill>
              </a:rPr>
              <a:t>↓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0" y="3328416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681728" y="3419856"/>
            <a:ext cx="411480" cy="411480"/>
          </a:xfrm>
          <a:prstGeom prst="oval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81728" y="34198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8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166360" y="34198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活动签到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166360" y="36484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现场扫码核验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57200" y="4087368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66928" y="4178808"/>
            <a:ext cx="411480" cy="411480"/>
          </a:xfrm>
          <a:prstGeom prst="oval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6928" y="4178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9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051560" y="41788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统计分析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051560" y="44074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数据采集分析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377440" y="46817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8E8"/>
                </a:solidFill>
              </a:rPr>
              <a:t>↓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572000" y="4087368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681728" y="4178808"/>
            <a:ext cx="411480" cy="411480"/>
          </a:xfrm>
          <a:prstGeom prst="oval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681728" y="4178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10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5166360" y="41788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精彩回顾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5166360" y="44074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内容整理发布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434840" y="3337560"/>
            <a:ext cx="18288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覆盖活动全生命周期运营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9 / 12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5029200"/>
            <a:ext cx="91440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八、系统功能架构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749040" y="2286000"/>
            <a:ext cx="1645920" cy="914400"/>
          </a:xfrm>
          <a:prstGeom prst="oval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749040" y="22860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活动运营平台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182880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051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活动管理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0" y="1234440"/>
            <a:ext cx="146304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1430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5A82"/>
                </a:solidFill>
              </a:rPr>
              <a:t>━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527048"/>
            <a:ext cx="182880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15270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活动分类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0" y="1709928"/>
            <a:ext cx="146304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61848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5A82"/>
                </a:solidFill>
              </a:rPr>
              <a:t>━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002536"/>
            <a:ext cx="182880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20025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活动审核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0" y="2185416"/>
            <a:ext cx="146304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209397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5A82"/>
                </a:solidFill>
              </a:rPr>
              <a:t>━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478024"/>
            <a:ext cx="182880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247802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报名审核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0" y="2660904"/>
            <a:ext cx="146304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256946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5A82"/>
                </a:solidFill>
              </a:rPr>
              <a:t>━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2953512"/>
            <a:ext cx="182880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" y="29535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活动签到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0" y="3136392"/>
            <a:ext cx="146304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3044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5A82"/>
                </a:solidFill>
              </a:rPr>
              <a:t>━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429000"/>
            <a:ext cx="182880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7200" y="3429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热门活动配置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0" y="3611880"/>
            <a:ext cx="146304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0" y="35204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5A82"/>
                </a:solidFill>
              </a:rPr>
              <a:t>━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3904488"/>
            <a:ext cx="182880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57200" y="39044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活动统计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286000" y="4087368"/>
            <a:ext cx="146304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83280" y="399592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5A82"/>
                </a:solidFill>
              </a:rPr>
              <a:t>━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4379976"/>
            <a:ext cx="182880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57200" y="437997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精彩回顾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286000" y="4562856"/>
            <a:ext cx="146304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83280" y="44714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5A82"/>
                </a:solidFill>
              </a:rPr>
              <a:t>━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858000" y="1280160"/>
            <a:ext cx="182880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858000" y="1280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活动专区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394960" y="1463040"/>
            <a:ext cx="146304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94960" y="1371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7293"/>
                </a:solidFill>
              </a:rPr>
              <a:t>━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858000" y="1783080"/>
            <a:ext cx="182880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858000" y="1783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全部活动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394960" y="1965960"/>
            <a:ext cx="146304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94960" y="1874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7293"/>
                </a:solidFill>
              </a:rPr>
              <a:t>━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858000" y="2286000"/>
            <a:ext cx="182880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858000" y="2286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培训专区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394960" y="2468880"/>
            <a:ext cx="146304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394960" y="23774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7293"/>
                </a:solidFill>
              </a:rPr>
              <a:t>━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858000" y="2788920"/>
            <a:ext cx="182880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6858000" y="2788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我的活动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394960" y="2971800"/>
            <a:ext cx="146304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94960" y="28803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7293"/>
                </a:solidFill>
              </a:rPr>
              <a:t>━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858000" y="3291840"/>
            <a:ext cx="182880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6858000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活动报名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394960" y="3474720"/>
            <a:ext cx="146304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394960" y="33832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7293"/>
                </a:solidFill>
              </a:rPr>
              <a:t>━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858000" y="3794760"/>
            <a:ext cx="182880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6858000" y="3794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活动签到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394960" y="3977640"/>
            <a:ext cx="146304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394960" y="38862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7293"/>
                </a:solidFill>
              </a:rPr>
              <a:t>━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6858000" y="4297680"/>
            <a:ext cx="182880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6858000" y="4297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精彩回顾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5394960" y="4480560"/>
            <a:ext cx="146304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394960" y="43891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7293"/>
                </a:solidFill>
              </a:rPr>
              <a:t>━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457200" y="777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运营侧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6858000" y="777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</a:rPr>
              <a:t>用户侧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10 / 12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5029200"/>
            <a:ext cx="91440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九、系统设计演示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运营后台 + 门户界面设计展示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运营管理后台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87452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371600"/>
            <a:ext cx="1874520" cy="25603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417320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</a:rPr>
              <a:t>●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13232" y="1417320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●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77824" y="1417320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</a:rPr>
              <a:t>●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60120" y="140817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活动管理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1719072"/>
            <a:ext cx="1691640" cy="1051560"/>
          </a:xfrm>
          <a:prstGeom prst="rect">
            <a:avLst/>
          </a:prstGeom>
          <a:solidFill>
            <a:srgbClr val="F0F4F8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0116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活动列表与创建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468880" y="1371600"/>
            <a:ext cx="187452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68880" y="1371600"/>
            <a:ext cx="1874520" cy="25603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0" y="1417320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</a:rPr>
              <a:t>●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724912" y="1417320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●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889504" y="1417320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</a:rPr>
              <a:t>●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971800" y="140817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报名审核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560320" y="1719072"/>
            <a:ext cx="1691640" cy="1051560"/>
          </a:xfrm>
          <a:prstGeom prst="rect">
            <a:avLst/>
          </a:prstGeom>
          <a:solidFill>
            <a:srgbClr val="F0F4F8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0" y="20116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用户报名审核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063240"/>
            <a:ext cx="187452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063240"/>
            <a:ext cx="1874520" cy="25603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108960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</a:rPr>
              <a:t>●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13232" y="3108960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●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77824" y="3108960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</a:rPr>
              <a:t>●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960120" y="309981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活动签到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3410712"/>
            <a:ext cx="1691640" cy="1051560"/>
          </a:xfrm>
          <a:prstGeom prst="rect">
            <a:avLst/>
          </a:prstGeom>
          <a:solidFill>
            <a:srgbClr val="F0F4F8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7033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现场签到管理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468880" y="3063240"/>
            <a:ext cx="187452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468880" y="3063240"/>
            <a:ext cx="1874520" cy="25603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60320" y="3108960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</a:rPr>
              <a:t>●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724912" y="3108960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●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889504" y="3108960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</a:rPr>
              <a:t>●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971800" y="309981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热门配置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560320" y="3410712"/>
            <a:ext cx="1691640" cy="1051560"/>
          </a:xfrm>
          <a:prstGeom prst="rect">
            <a:avLst/>
          </a:prstGeom>
          <a:solidFill>
            <a:srgbClr val="F0F4F8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60320" y="37033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首页运营配置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09160" y="1005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门户活动专区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09160" y="1371600"/>
            <a:ext cx="187452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09160" y="1371600"/>
            <a:ext cx="1874520" cy="256032"/>
          </a:xfrm>
          <a:prstGeom prst="rect">
            <a:avLst/>
          </a:prstGeom>
          <a:solidFill>
            <a:srgbClr val="1C7293">
              <a:alpha val="15000"/>
            </a:srgbClr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1417320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</a:rPr>
              <a:t>●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965192" y="1417320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●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129784" y="1417320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</a:rPr>
              <a:t>●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212080" y="140817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活动专区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800600" y="1719072"/>
            <a:ext cx="1691640" cy="1051560"/>
          </a:xfrm>
          <a:prstGeom prst="rect">
            <a:avLst/>
          </a:prstGeom>
          <a:solidFill>
            <a:srgbClr val="F0F4F8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00600" y="20116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热门活动展示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720840" y="1371600"/>
            <a:ext cx="187452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720840" y="1371600"/>
            <a:ext cx="1874520" cy="256032"/>
          </a:xfrm>
          <a:prstGeom prst="rect">
            <a:avLst/>
          </a:prstGeom>
          <a:solidFill>
            <a:srgbClr val="1C7293">
              <a:alpha val="15000"/>
            </a:srgbClr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12280" y="1417320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</a:rPr>
              <a:t>●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976872" y="1417320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●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141464" y="1417320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</a:rPr>
              <a:t>●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223760" y="140817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全部活动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812280" y="1719072"/>
            <a:ext cx="1691640" cy="1051560"/>
          </a:xfrm>
          <a:prstGeom prst="rect">
            <a:avLst/>
          </a:prstGeom>
          <a:solidFill>
            <a:srgbClr val="F0F4F8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12280" y="20116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分类筛选浏览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709160" y="3063240"/>
            <a:ext cx="187452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4709160" y="3063240"/>
            <a:ext cx="1874520" cy="256032"/>
          </a:xfrm>
          <a:prstGeom prst="rect">
            <a:avLst/>
          </a:prstGeom>
          <a:solidFill>
            <a:srgbClr val="1C7293">
              <a:alpha val="15000"/>
            </a:srgbClr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00600" y="3108960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</a:rPr>
              <a:t>●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965192" y="3108960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●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129784" y="3108960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</a:rPr>
              <a:t>●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5212080" y="309981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我的活动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800600" y="3410712"/>
            <a:ext cx="1691640" cy="1051560"/>
          </a:xfrm>
          <a:prstGeom prst="rect">
            <a:avLst/>
          </a:prstGeom>
          <a:solidFill>
            <a:srgbClr val="F0F4F8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800600" y="37033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报名与签到记录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720840" y="3063240"/>
            <a:ext cx="187452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6720840" y="3063240"/>
            <a:ext cx="1874520" cy="256032"/>
          </a:xfrm>
          <a:prstGeom prst="rect">
            <a:avLst/>
          </a:prstGeom>
          <a:solidFill>
            <a:srgbClr val="1C7293">
              <a:alpha val="15000"/>
            </a:srgbClr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812280" y="3108960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</a:rPr>
              <a:t>●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6976872" y="3108960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●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7141464" y="3108960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</a:rPr>
              <a:t>●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7223760" y="309981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H5签到页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812280" y="3410712"/>
            <a:ext cx="1691640" cy="1051560"/>
          </a:xfrm>
          <a:prstGeom prst="rect">
            <a:avLst/>
          </a:prstGeom>
          <a:solidFill>
            <a:srgbClr val="F0F4F8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812280" y="37033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扫码签到界面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2286000" y="4617720"/>
            <a:ext cx="4572000" cy="36576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286000" y="4617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系统演示链接：https://xxxxxx |  二维码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11 / 12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5029200"/>
            <a:ext cx="91440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十、技术实施架构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6002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160020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前端层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0352" y="1508760"/>
            <a:ext cx="1453896" cy="384048"/>
          </a:xfrm>
          <a:prstGeom prst="roundRect">
            <a:avLst>
              <a:gd name="adj" fmla="val 9524"/>
            </a:avLst>
          </a:prstGeom>
          <a:solidFill>
            <a:srgbClr val="065A82">
              <a:alpha val="12000"/>
            </a:srgbClr>
          </a:solidFill>
          <a:ln w="635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508760"/>
            <a:ext cx="1453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门户活动专区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2011680"/>
            <a:ext cx="1453896" cy="384048"/>
          </a:xfrm>
          <a:prstGeom prst="roundRect">
            <a:avLst>
              <a:gd name="adj" fmla="val 9524"/>
            </a:avLst>
          </a:prstGeom>
          <a:solidFill>
            <a:srgbClr val="065A82">
              <a:alpha val="12000"/>
            </a:srgbClr>
          </a:solidFill>
          <a:ln w="635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011680"/>
            <a:ext cx="1453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运营管理后台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30352" y="2514600"/>
            <a:ext cx="1453896" cy="384048"/>
          </a:xfrm>
          <a:prstGeom prst="roundRect">
            <a:avLst>
              <a:gd name="adj" fmla="val 9524"/>
            </a:avLst>
          </a:prstGeom>
          <a:solidFill>
            <a:srgbClr val="065A82">
              <a:alpha val="12000"/>
            </a:srgbClr>
          </a:solidFill>
          <a:ln w="635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514600"/>
            <a:ext cx="1453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H5签到页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0352" y="3749040"/>
            <a:ext cx="1453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HTML + Tailwind CSS + JavaScript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176272" y="1005840"/>
            <a:ext cx="16002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176272" y="1005840"/>
            <a:ext cx="160020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76272" y="10058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应用层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49424" y="1508760"/>
            <a:ext cx="1453896" cy="384048"/>
          </a:xfrm>
          <a:prstGeom prst="roundRect">
            <a:avLst>
              <a:gd name="adj" fmla="val 9524"/>
            </a:avLst>
          </a:prstGeom>
          <a:solidFill>
            <a:srgbClr val="1C7293">
              <a:alpha val="12000"/>
            </a:srgbClr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49424" y="1508760"/>
            <a:ext cx="1453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活动管理服务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49424" y="2011680"/>
            <a:ext cx="1453896" cy="384048"/>
          </a:xfrm>
          <a:prstGeom prst="roundRect">
            <a:avLst>
              <a:gd name="adj" fmla="val 9524"/>
            </a:avLst>
          </a:prstGeom>
          <a:solidFill>
            <a:srgbClr val="1C7293">
              <a:alpha val="12000"/>
            </a:srgbClr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49424" y="2011680"/>
            <a:ext cx="1453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报名审核服务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249424" y="2514600"/>
            <a:ext cx="1453896" cy="384048"/>
          </a:xfrm>
          <a:prstGeom prst="roundRect">
            <a:avLst>
              <a:gd name="adj" fmla="val 9524"/>
            </a:avLst>
          </a:prstGeom>
          <a:solidFill>
            <a:srgbClr val="1C7293">
              <a:alpha val="12000"/>
            </a:srgbClr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49424" y="2514600"/>
            <a:ext cx="1453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签到服务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249424" y="3017520"/>
            <a:ext cx="1453896" cy="384048"/>
          </a:xfrm>
          <a:prstGeom prst="roundRect">
            <a:avLst>
              <a:gd name="adj" fmla="val 9524"/>
            </a:avLst>
          </a:prstGeom>
          <a:solidFill>
            <a:srgbClr val="1C7293">
              <a:alpha val="12000"/>
            </a:srgbClr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49424" y="3017520"/>
            <a:ext cx="1453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消息服务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249424" y="3520440"/>
            <a:ext cx="1453896" cy="384048"/>
          </a:xfrm>
          <a:prstGeom prst="roundRect">
            <a:avLst>
              <a:gd name="adj" fmla="val 9524"/>
            </a:avLst>
          </a:prstGeom>
          <a:solidFill>
            <a:srgbClr val="1C7293">
              <a:alpha val="12000"/>
            </a:srgbClr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49424" y="3520440"/>
            <a:ext cx="1453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统计分析服务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249424" y="3749040"/>
            <a:ext cx="1453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Node.js / Java 微服务架构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895344" y="1005840"/>
            <a:ext cx="16002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895344" y="1005840"/>
            <a:ext cx="160020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95344" y="10058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数据库层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968496" y="1508760"/>
            <a:ext cx="1453896" cy="384048"/>
          </a:xfrm>
          <a:prstGeom prst="roundRect">
            <a:avLst>
              <a:gd name="adj" fmla="val 9524"/>
            </a:avLst>
          </a:prstGeom>
          <a:solidFill>
            <a:srgbClr val="065A82">
              <a:alpha val="12000"/>
            </a:srgbClr>
          </a:solidFill>
          <a:ln w="6350">
            <a:solidFill>
              <a:srgbClr val="065A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68496" y="1508760"/>
            <a:ext cx="1453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MySQL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968496" y="2011680"/>
            <a:ext cx="1453896" cy="384048"/>
          </a:xfrm>
          <a:prstGeom prst="roundRect">
            <a:avLst>
              <a:gd name="adj" fmla="val 9524"/>
            </a:avLst>
          </a:prstGeom>
          <a:solidFill>
            <a:srgbClr val="065A82">
              <a:alpha val="12000"/>
            </a:srgbClr>
          </a:solidFill>
          <a:ln w="6350">
            <a:solidFill>
              <a:srgbClr val="065A8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68496" y="2011680"/>
            <a:ext cx="1453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Redis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968496" y="2514600"/>
            <a:ext cx="1453896" cy="384048"/>
          </a:xfrm>
          <a:prstGeom prst="roundRect">
            <a:avLst>
              <a:gd name="adj" fmla="val 9524"/>
            </a:avLst>
          </a:prstGeom>
          <a:solidFill>
            <a:srgbClr val="065A82">
              <a:alpha val="12000"/>
            </a:srgbClr>
          </a:solidFill>
          <a:ln w="6350">
            <a:solidFill>
              <a:srgbClr val="065A8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68496" y="2514600"/>
            <a:ext cx="1453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对象存储（MinIO）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968496" y="3749040"/>
            <a:ext cx="1453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关系型 + 缓存 + 对象存储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614416" y="1005840"/>
            <a:ext cx="16002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614416" y="1005840"/>
            <a:ext cx="160020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14416" y="10058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能力组件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687568" y="1508760"/>
            <a:ext cx="1453896" cy="384048"/>
          </a:xfrm>
          <a:prstGeom prst="roundRect">
            <a:avLst>
              <a:gd name="adj" fmla="val 9524"/>
            </a:avLst>
          </a:prstGeom>
          <a:solidFill>
            <a:srgbClr val="1C7293">
              <a:alpha val="12000"/>
            </a:srgbClr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87568" y="1508760"/>
            <a:ext cx="1453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统一身份认证（SSO）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687568" y="2011680"/>
            <a:ext cx="1453896" cy="384048"/>
          </a:xfrm>
          <a:prstGeom prst="roundRect">
            <a:avLst>
              <a:gd name="adj" fmla="val 9524"/>
            </a:avLst>
          </a:prstGeom>
          <a:solidFill>
            <a:srgbClr val="1C7293">
              <a:alpha val="12000"/>
            </a:srgbClr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87568" y="2011680"/>
            <a:ext cx="1453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二维码签到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687568" y="2514600"/>
            <a:ext cx="1453896" cy="384048"/>
          </a:xfrm>
          <a:prstGeom prst="roundRect">
            <a:avLst>
              <a:gd name="adj" fmla="val 9524"/>
            </a:avLst>
          </a:prstGeom>
          <a:solidFill>
            <a:srgbClr val="1C7293">
              <a:alpha val="12000"/>
            </a:srgbClr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87568" y="2514600"/>
            <a:ext cx="1453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文件上传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687568" y="3017520"/>
            <a:ext cx="1453896" cy="384048"/>
          </a:xfrm>
          <a:prstGeom prst="roundRect">
            <a:avLst>
              <a:gd name="adj" fmla="val 9524"/>
            </a:avLst>
          </a:prstGeom>
          <a:solidFill>
            <a:srgbClr val="1C7293">
              <a:alpha val="12000"/>
            </a:srgbClr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87568" y="3017520"/>
            <a:ext cx="1453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日志审计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687568" y="3520440"/>
            <a:ext cx="1453896" cy="384048"/>
          </a:xfrm>
          <a:prstGeom prst="roundRect">
            <a:avLst>
              <a:gd name="adj" fmla="val 9524"/>
            </a:avLst>
          </a:prstGeom>
          <a:solidFill>
            <a:srgbClr val="1C7293">
              <a:alpha val="12000"/>
            </a:srgbClr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87568" y="3520440"/>
            <a:ext cx="1453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消息通知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687568" y="3749040"/>
            <a:ext cx="1453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公共服务能力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7333488" y="1005840"/>
            <a:ext cx="16002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7333488" y="1005840"/>
            <a:ext cx="160020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333488" y="10058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部署架构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7406640" y="1508760"/>
            <a:ext cx="1453896" cy="384048"/>
          </a:xfrm>
          <a:prstGeom prst="roundRect">
            <a:avLst>
              <a:gd name="adj" fmla="val 9524"/>
            </a:avLst>
          </a:prstGeom>
          <a:solidFill>
            <a:srgbClr val="065A82">
              <a:alpha val="12000"/>
            </a:srgbClr>
          </a:solidFill>
          <a:ln w="6350">
            <a:solidFill>
              <a:srgbClr val="065A8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406640" y="1508760"/>
            <a:ext cx="1453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Nginx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406640" y="2011680"/>
            <a:ext cx="1453896" cy="384048"/>
          </a:xfrm>
          <a:prstGeom prst="roundRect">
            <a:avLst>
              <a:gd name="adj" fmla="val 9524"/>
            </a:avLst>
          </a:prstGeom>
          <a:solidFill>
            <a:srgbClr val="065A82">
              <a:alpha val="12000"/>
            </a:srgbClr>
          </a:solidFill>
          <a:ln w="6350">
            <a:solidFill>
              <a:srgbClr val="065A8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06640" y="2011680"/>
            <a:ext cx="1453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应用服务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406640" y="2514600"/>
            <a:ext cx="1453896" cy="384048"/>
          </a:xfrm>
          <a:prstGeom prst="roundRect">
            <a:avLst>
              <a:gd name="adj" fmla="val 9524"/>
            </a:avLst>
          </a:prstGeom>
          <a:solidFill>
            <a:srgbClr val="065A82">
              <a:alpha val="12000"/>
            </a:srgbClr>
          </a:solidFill>
          <a:ln w="6350">
            <a:solidFill>
              <a:srgbClr val="065A8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406640" y="2514600"/>
            <a:ext cx="1453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数据库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406640" y="3017520"/>
            <a:ext cx="1453896" cy="384048"/>
          </a:xfrm>
          <a:prstGeom prst="roundRect">
            <a:avLst>
              <a:gd name="adj" fmla="val 9524"/>
            </a:avLst>
          </a:prstGeom>
          <a:solidFill>
            <a:srgbClr val="065A82">
              <a:alpha val="12000"/>
            </a:srgbClr>
          </a:solidFill>
          <a:ln w="6350">
            <a:solidFill>
              <a:srgbClr val="065A8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406640" y="3017520"/>
            <a:ext cx="1453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对象存储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406640" y="3749040"/>
            <a:ext cx="1453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容器化部署 / 云服务器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457200" y="4343400"/>
            <a:ext cx="8229600" cy="256032"/>
          </a:xfrm>
          <a:prstGeom prst="rect">
            <a:avLst/>
          </a:prstGeom>
          <a:solidFill>
            <a:srgbClr val="00A8E8">
              <a:alpha val="15000"/>
            </a:srgbClr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7200" y="4343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8E8"/>
                </a:solidFill>
              </a:rPr>
              <a:t>推荐采用前后端分离架构，支持容器化部署，确保系统可扩展性与高可用性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065A82">
              <a:alpha val="2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十一、建设价值与下一步规划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E8"/>
                </a:solidFill>
              </a:rPr>
              <a:t>建设价值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2011680" cy="1005840"/>
          </a:xfrm>
          <a:prstGeom prst="rect">
            <a:avLst/>
          </a:prstGeom>
          <a:solidFill>
            <a:srgbClr val="00A8E8">
              <a:alpha val="20000"/>
            </a:srgbClr>
          </a:solidFill>
          <a:ln w="6350">
            <a:solidFill>
              <a:srgbClr val="00A8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34440"/>
            <a:ext cx="2011680" cy="54864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53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提升推广效率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6276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活动统一管理，一站式运营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06040" y="1234440"/>
            <a:ext cx="2011680" cy="1005840"/>
          </a:xfrm>
          <a:prstGeom prst="rect">
            <a:avLst/>
          </a:prstGeom>
          <a:solidFill>
            <a:srgbClr val="1C7293">
              <a:alpha val="20000"/>
            </a:srgbClr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06040" y="1234440"/>
            <a:ext cx="201168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97480" y="1353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提升培训能力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97480" y="16276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培训活动数字化转型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1234440"/>
            <a:ext cx="2011680" cy="1005840"/>
          </a:xfrm>
          <a:prstGeom prst="rect">
            <a:avLst/>
          </a:prstGeom>
          <a:solidFill>
            <a:srgbClr val="065A82">
              <a:alpha val="20000"/>
            </a:srgbClr>
          </a:solidFill>
          <a:ln w="6350">
            <a:solidFill>
              <a:srgbClr val="065A8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1234440"/>
            <a:ext cx="2011680" cy="548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353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提升用户参与度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16276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形成完整活动闭环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03720" y="1234440"/>
            <a:ext cx="2011680" cy="1005840"/>
          </a:xfrm>
          <a:prstGeom prst="rect">
            <a:avLst/>
          </a:prstGeom>
          <a:solidFill>
            <a:srgbClr val="10B981">
              <a:alpha val="2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03720" y="1234440"/>
            <a:ext cx="201168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95160" y="1353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提升运营能力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95160" y="16276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沉淀活动数据资产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E8"/>
                </a:solidFill>
              </a:rPr>
              <a:t>下一步规划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2788920"/>
            <a:ext cx="1600200" cy="123444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00A8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8346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57200" y="32461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微信通知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0352" y="3520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活动报名与签到微信推送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176272" y="2788920"/>
            <a:ext cx="1600200" cy="123444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00A8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76272" y="28346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🧩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2176272" y="32461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小程序签到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249424" y="3520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轻量化签到体验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895344" y="2788920"/>
            <a:ext cx="1600200" cy="123444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00A8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95344" y="28346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3895344" y="32461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自动消息提醒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968496" y="3520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活动开始前自动提醒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614416" y="2788920"/>
            <a:ext cx="1600200" cy="123444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00A8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14416" y="28346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📜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5614416" y="32461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培训证书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687568" y="3520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电子证书发放与验证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333488" y="2788920"/>
            <a:ext cx="1600200" cy="123444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00A8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33488" y="28346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7333488" y="32461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数据分析看板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406640" y="3520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多维数据可视化分析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0" y="4251960"/>
            <a:ext cx="9144000" cy="59436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0" y="42519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以活动运营能力支撑公共数据授权运营推广落地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41248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活动运营中心建设方案</dc:title>
  <dc:subject>PptxGenJS Presentation</dc:subject>
  <dc:creator>公共数据授权运营项目组</dc:creator>
  <cp:lastModifiedBy>公共数据授权运营项目组</cp:lastModifiedBy>
  <cp:revision>1</cp:revision>
  <dcterms:created xsi:type="dcterms:W3CDTF">2026-06-11T07:07:37Z</dcterms:created>
  <dcterms:modified xsi:type="dcterms:W3CDTF">2026-06-11T07:07:37Z</dcterms:modified>
</cp:coreProperties>
</file>